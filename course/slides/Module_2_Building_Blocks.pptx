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2: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Module 2: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AAAAA"/>
                </a:solidFill>
                <a:latin typeface="Calibri"/>
              </a:defRPr>
            </a:pPr>
            <a:r>
              <a:t>Tools, Planning, and Context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2: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What You'll Learn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Built-in filesystem tools: read_file, write_file, ls, glob, grep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Planning with write_todos — structured task decomposition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The write-then-summarize pattern — files survive context compression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OpenAI web search via the Responses API</a:t>
            </a:r>
          </a:p>
          <a:p>
            <a:pPr>
              <a:spcBef>
                <a:spcPts val="800"/>
              </a:spcBef>
              <a:defRPr sz="2000">
                <a:solidFill>
                  <a:srgbClr val="DCDCDC"/>
                </a:solidFill>
                <a:latin typeface="Calibri"/>
              </a:defRPr>
            </a:pPr>
            <a:r>
              <a:t>System prompt workflows — numbered steps for reliable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2: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A5FFF"/>
                </a:solidFill>
                <a:latin typeface="Calibri"/>
              </a:defRPr>
            </a:pPr>
            <a:r>
              <a:t>Lab 2: Research Agent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Paste This 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CDCDC"/>
                </a:solidFill>
                <a:latin typeface="Calibri"/>
              </a:defRPr>
            </a:pPr>
            <a:r>
              <a:t>The agent builds a web search +</a:t>
            </a:r>
            <a:br/>
            <a:r>
              <a:t>research report agent that plans,</a:t>
            </a:r>
            <a:br/>
            <a:r>
              <a:t>searches, takes notes to files, and</a:t>
            </a:r>
            <a:br/>
            <a:r>
              <a:t>writes a final report.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303520" cy="411480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FF88"/>
                </a:solidFill>
                <a:latin typeface="Calibri"/>
              </a:defRPr>
            </a:pPr>
            <a:r>
              <a:t>What the Agent Builds: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my-agents/lab2_research_agent.py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Custom tool: web_search() via OpenAI API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5-step workflow in system prompt</a:t>
            </a:r>
          </a:p>
          <a:p>
            <a:pPr>
              <a:spcBef>
                <a:spcPts val="800"/>
              </a:spcBef>
              <a:defRPr sz="1400">
                <a:solidFill>
                  <a:srgbClr val="DCDCDC"/>
                </a:solidFill>
                <a:latin typeface="Calibri"/>
              </a:defRPr>
            </a:pPr>
            <a:r>
              <a:t>Files: /research/*.md, /output/report.md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2: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AA00"/>
                </a:solidFill>
                <a:latin typeface="Calibri"/>
              </a:defRPr>
            </a:pPr>
            <a:r>
              <a:t>Lab 2 — How to Run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73152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FF88"/>
                </a:solidFill>
                <a:latin typeface="Calibri"/>
              </a:defRPr>
            </a:pPr>
            <a:r>
              <a:t>$ python my-agents/lab2_research_agent.py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515600" cy="3840480"/>
          </a:xfrm>
          <a:prstGeom prst="roundRect">
            <a:avLst/>
          </a:prstGeom>
          <a:solidFill>
            <a:srgbClr val="0F0F23"/>
          </a:solidFill>
          <a:ln w="190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Expected Trace Output: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CDCDC"/>
                </a:solidFill>
                <a:latin typeface="Calibri"/>
              </a:defRPr>
            </a:pPr>
            <a:r>
              <a:t>  [PLAN] write_todos(["Search Python", "Search JS", ...])</a:t>
            </a:r>
            <a:br/>
            <a:r>
              <a:t>  [SEARCH] web_search(query="Python backend 2025")</a:t>
            </a:r>
            <a:br/>
            <a:r>
              <a:t>  [RESULT] Python continues to dominate...</a:t>
            </a:r>
            <a:br/>
            <a:r>
              <a:t>  [WRITE] write_file("/research/python.md")</a:t>
            </a:r>
            <a:br/>
            <a:r>
              <a:t>  [FILE WRITTEN] /research/python.md</a:t>
            </a:r>
            <a:br/>
            <a:r>
              <a:t>  [SEARCH] web_search(query="JavaScript backend 2025")</a:t>
            </a:r>
            <a:br/>
            <a:r>
              <a:t>  [RESULT] JavaScript with Node.js...</a:t>
            </a:r>
            <a:br/>
            <a:r>
              <a:t>  [WRITE] write_file("/output/report.md")</a:t>
            </a:r>
            <a:br/>
            <a:r>
              <a:t>  [FILE WRITTEN] /output/report.md</a:t>
            </a:r>
            <a:br/>
            <a:br/>
            <a:r>
              <a:t>AGENT RESPONSE: Here is my comparison report...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2: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F88"/>
                </a:solidFill>
                <a:latin typeface="Calibri"/>
              </a:defRPr>
            </a:pPr>
            <a:r>
              <a:t>Lab 2 — 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Filesystem tools are built-in — agents can read/write files automatically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write_todos creates a plan before executing — prevents random-walk behavior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Write immediately pattern: notes survive context summarization</a:t>
            </a:r>
          </a:p>
          <a:p>
            <a:pPr>
              <a:spcBef>
                <a:spcPts val="800"/>
              </a:spcBef>
              <a:defRPr sz="2200">
                <a:solidFill>
                  <a:srgbClr val="DCDCDC"/>
                </a:solidFill>
                <a:latin typeface="Calibri"/>
              </a:defRPr>
            </a:pPr>
            <a:r>
              <a:t>System prompt workflows (numbered steps) produce reliable, repeatable 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/>
          </a:prstGeom>
          <a:solidFill>
            <a:srgbClr val="7A5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0" y="274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646464"/>
                </a:solidFill>
                <a:latin typeface="Calibri"/>
              </a:defRPr>
            </a:pPr>
            <a:r>
              <a:t>Module 2: Building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7A5FFF"/>
                </a:solidFill>
                <a:latin typeface="Calibri"/>
              </a:defRPr>
            </a:pPr>
            <a:r>
              <a:t>Module 2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640080"/>
          </a:xfrm>
          <a:prstGeom prst="roundRect">
            <a:avLst/>
          </a:prstGeom>
          <a:solidFill>
            <a:srgbClr val="14143C"/>
          </a:solidFill>
          <a:ln w="19050">
            <a:solidFill>
              <a:srgbClr val="7A5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alibri"/>
              </a:defRPr>
            </a:pPr>
            <a:r>
              <a:t>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4630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CDCDC"/>
                </a:solidFill>
                <a:latin typeface="Calibri"/>
              </a:defRPr>
            </a:pPr>
            <a:r>
              <a:t>Research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Calibri"/>
              </a:defRPr>
            </a:pPr>
            <a:r>
              <a:t>Web search + filesystem +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