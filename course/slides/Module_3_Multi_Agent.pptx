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7A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0" y="274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46464"/>
                </a:solidFill>
                <a:latin typeface="Calibri"/>
              </a:defRPr>
            </a:pPr>
            <a:r>
              <a:t>Module 3: Multi-Agent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Module 3: Multi-Agent Orchestration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4747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AAAAAA"/>
                </a:solidFill>
                <a:latin typeface="Calibri"/>
              </a:defRPr>
            </a:pPr>
            <a:r>
              <a:t>Agents That Collaborate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7A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0" y="274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46464"/>
                </a:solidFill>
                <a:latin typeface="Calibri"/>
              </a:defRPr>
            </a:pPr>
            <a:r>
              <a:t>Module 3: Multi-Agent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Calibri"/>
              </a:defRPr>
            </a:pPr>
            <a:r>
              <a:t>What You'll Learn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554480"/>
            <a:ext cx="9601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000">
                <a:solidFill>
                  <a:srgbClr val="DCDCDC"/>
                </a:solidFill>
                <a:latin typeface="Calibri"/>
              </a:defRPr>
            </a:pPr>
            <a:r>
              <a:t>Sub-agent delegation with the task() tool</a:t>
            </a:r>
          </a:p>
          <a:p>
            <a:pPr>
              <a:spcBef>
                <a:spcPts val="800"/>
              </a:spcBef>
              <a:defRPr sz="2000">
                <a:solidFill>
                  <a:srgbClr val="DCDCDC"/>
                </a:solidFill>
                <a:latin typeface="Calibri"/>
              </a:defRPr>
            </a:pPr>
            <a:r>
              <a:t>Context isolation — sub-agents get fresh, separate contexts</a:t>
            </a:r>
          </a:p>
          <a:p>
            <a:pPr>
              <a:spcBef>
                <a:spcPts val="800"/>
              </a:spcBef>
              <a:defRPr sz="2000">
                <a:solidFill>
                  <a:srgbClr val="DCDCDC"/>
                </a:solidFill>
                <a:latin typeface="Calibri"/>
              </a:defRPr>
            </a:pPr>
            <a:r>
              <a:t>Parallel execution — multiple task() calls in one response</a:t>
            </a:r>
          </a:p>
          <a:p>
            <a:pPr>
              <a:spcBef>
                <a:spcPts val="800"/>
              </a:spcBef>
              <a:defRPr sz="2000">
                <a:solidFill>
                  <a:srgbClr val="DCDCDC"/>
                </a:solidFill>
                <a:latin typeface="Calibri"/>
              </a:defRPr>
            </a:pPr>
            <a:r>
              <a:t>Filesystem as a communication bus between agents</a:t>
            </a:r>
          </a:p>
          <a:p>
            <a:pPr>
              <a:spcBef>
                <a:spcPts val="800"/>
              </a:spcBef>
              <a:defRPr sz="2000">
                <a:solidFill>
                  <a:srgbClr val="DCDCDC"/>
                </a:solidFill>
                <a:latin typeface="Calibri"/>
              </a:defRPr>
            </a:pPr>
            <a:r>
              <a:t>Sequential pipelines — Agent A writes, Agent B reads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7A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0" y="274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46464"/>
                </a:solidFill>
                <a:latin typeface="Calibri"/>
              </a:defRPr>
            </a:pPr>
            <a:r>
              <a:t>Module 3: Multi-Agent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7A5FFF"/>
                </a:solidFill>
                <a:latin typeface="Calibri"/>
              </a:defRPr>
            </a:pPr>
            <a:r>
              <a:t>Lab 3a: Your First Sub-Agent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029200" cy="4114800"/>
          </a:xfrm>
          <a:prstGeom prst="roundRect">
            <a:avLst/>
          </a:prstGeom>
          <a:solidFill>
            <a:srgbClr val="14143C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Calibri"/>
              </a:defRPr>
            </a:pPr>
            <a:r>
              <a:t>Paste This Prompt: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CDCDC"/>
                </a:solidFill>
                <a:latin typeface="Calibri"/>
              </a:defRPr>
            </a:pPr>
            <a:r>
              <a:t>The agent builds an orchestrator</a:t>
            </a:r>
            <a:br/>
            <a:r>
              <a:t>with NO tools that MUST delegate</a:t>
            </a:r>
            <a:br/>
            <a:r>
              <a:t>all research to a sub-agent.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303520" cy="4114800"/>
          </a:xfrm>
          <a:prstGeom prst="roundRect">
            <a:avLst/>
          </a:prstGeom>
          <a:solidFill>
            <a:srgbClr val="14143C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FF88"/>
                </a:solidFill>
                <a:latin typeface="Calibri"/>
              </a:defRPr>
            </a:pPr>
            <a:r>
              <a:t>What the Agent Builds: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03120"/>
            <a:ext cx="4937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400">
                <a:solidFill>
                  <a:srgbClr val="DCDCDC"/>
                </a:solidFill>
                <a:latin typeface="Calibri"/>
              </a:defRPr>
            </a:pPr>
            <a:r>
              <a:t>my-agents/lab3a_first_subagent.py</a:t>
            </a:r>
          </a:p>
          <a:p>
            <a:pPr>
              <a:spcBef>
                <a:spcPts val="800"/>
              </a:spcBef>
              <a:defRPr sz="1400">
                <a:solidFill>
                  <a:srgbClr val="DCDCDC"/>
                </a:solidFill>
                <a:latin typeface="Calibri"/>
              </a:defRPr>
            </a:pPr>
            <a:r>
              <a:t>Orchestrator: gpt-4o, tools=[] (forced delegation)</a:t>
            </a:r>
          </a:p>
          <a:p>
            <a:pPr>
              <a:spcBef>
                <a:spcPts val="800"/>
              </a:spcBef>
              <a:defRPr sz="1400">
                <a:solidFill>
                  <a:srgbClr val="DCDCDC"/>
                </a:solidFill>
                <a:latin typeface="Calibri"/>
              </a:defRPr>
            </a:pPr>
            <a:r>
              <a:t>Researcher sub-agent: gpt-4o-mini, web_search</a:t>
            </a:r>
          </a:p>
          <a:p>
            <a:pPr>
              <a:spcBef>
                <a:spcPts val="800"/>
              </a:spcBef>
              <a:defRPr sz="1400">
                <a:solidFill>
                  <a:srgbClr val="DCDCDC"/>
                </a:solidFill>
                <a:latin typeface="Calibri"/>
              </a:defRPr>
            </a:pPr>
            <a:r>
              <a:t>Pattern: orchestrator → task() → researcher → answer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7A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0" y="274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46464"/>
                </a:solidFill>
                <a:latin typeface="Calibri"/>
              </a:defRPr>
            </a:pPr>
            <a:r>
              <a:t>Module 3: Multi-Agent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AA00"/>
                </a:solidFill>
                <a:latin typeface="Calibri"/>
              </a:defRPr>
            </a:pPr>
            <a:r>
              <a:t>Lab 3a — How to Run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515600" cy="731520"/>
          </a:xfrm>
          <a:prstGeom prst="roundRect">
            <a:avLst/>
          </a:prstGeom>
          <a:solidFill>
            <a:srgbClr val="1E1E1E"/>
          </a:solidFill>
          <a:ln w="19050">
            <a:solidFill>
              <a:srgbClr val="FF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FF88"/>
                </a:solidFill>
                <a:latin typeface="Calibri"/>
              </a:defRPr>
            </a:pPr>
            <a:r>
              <a:t>$ python my-agents/lab3a_first_subagent.py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377440"/>
            <a:ext cx="10515600" cy="3840480"/>
          </a:xfrm>
          <a:prstGeom prst="roundRect">
            <a:avLst/>
          </a:prstGeom>
          <a:solidFill>
            <a:srgbClr val="0F0F23"/>
          </a:solidFill>
          <a:ln w="190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468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  <a:latin typeface="Calibri"/>
              </a:defRPr>
            </a:pPr>
            <a:r>
              <a:t>Expected Trace Output: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2608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CDCDC"/>
                </a:solidFill>
                <a:latin typeface="Calibri"/>
              </a:defRPr>
            </a:pPr>
            <a:r>
              <a:t>  [DELEGATE] task("Research LangGraph and LangChain",</a:t>
            </a:r>
            <a:br/>
            <a:r>
              <a:t>             subagent_type="researcher")</a:t>
            </a:r>
            <a:br/>
            <a:r>
              <a:t>  [SUB-AGENT DONE] LangGraph is a framework for building...</a:t>
            </a:r>
            <a:br/>
            <a:br/>
            <a:r>
              <a:t>AGENT RESPONSE:</a:t>
            </a:r>
            <a:br/>
            <a:r>
              <a:t>Based on the researcher's findings, LangGraph is...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7A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0" y="274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46464"/>
                </a:solidFill>
                <a:latin typeface="Calibri"/>
              </a:defRPr>
            </a:pPr>
            <a:r>
              <a:t>Module 3: Multi-Agent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FF88"/>
                </a:solidFill>
                <a:latin typeface="Calibri"/>
              </a:defRPr>
            </a:pPr>
            <a:r>
              <a:t>Lab 3a — 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554480"/>
            <a:ext cx="9601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200">
                <a:solidFill>
                  <a:srgbClr val="DCDCDC"/>
                </a:solidFill>
                <a:latin typeface="Calibri"/>
              </a:defRPr>
            </a:pPr>
            <a:r>
              <a:t>tools=[] forces the orchestrator to delegate — it cannot do anything itself</a:t>
            </a:r>
          </a:p>
          <a:p>
            <a:pPr>
              <a:spcBef>
                <a:spcPts val="800"/>
              </a:spcBef>
              <a:defRPr sz="2200">
                <a:solidFill>
                  <a:srgbClr val="DCDCDC"/>
                </a:solidFill>
                <a:latin typeface="Calibri"/>
              </a:defRPr>
            </a:pPr>
            <a:r>
              <a:t>Sub-agents get isolated context (no cross-contamination)</a:t>
            </a:r>
          </a:p>
          <a:p>
            <a:pPr>
              <a:spcBef>
                <a:spcPts val="800"/>
              </a:spcBef>
              <a:defRPr sz="2200">
                <a:solidFill>
                  <a:srgbClr val="DCDCDC"/>
                </a:solidFill>
                <a:latin typeface="Calibri"/>
              </a:defRPr>
            </a:pPr>
            <a:r>
              <a:t>Only the final message returns (prevents context bloat)</a:t>
            </a:r>
          </a:p>
          <a:p>
            <a:pPr>
              <a:spcBef>
                <a:spcPts val="800"/>
              </a:spcBef>
              <a:defRPr sz="2200">
                <a:solidFill>
                  <a:srgbClr val="DCDCDC"/>
                </a:solidFill>
                <a:latin typeface="Calibri"/>
              </a:defRPr>
            </a:pPr>
            <a:r>
              <a:t>Different models per agent optimizes cost (gpt-4o orchestrator, gpt-4o-mini sub-agent)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7A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0" y="274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46464"/>
                </a:solidFill>
                <a:latin typeface="Calibri"/>
              </a:defRPr>
            </a:pPr>
            <a:r>
              <a:t>Module 3: Multi-Agent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7A5FFF"/>
                </a:solidFill>
                <a:latin typeface="Calibri"/>
              </a:defRPr>
            </a:pPr>
            <a:r>
              <a:t>Lab 3b: Parallel Sub-Agents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029200" cy="4114800"/>
          </a:xfrm>
          <a:prstGeom prst="roundRect">
            <a:avLst/>
          </a:prstGeom>
          <a:solidFill>
            <a:srgbClr val="14143C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Calibri"/>
              </a:defRPr>
            </a:pPr>
            <a:r>
              <a:t>Paste This Prompt: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CDCDC"/>
                </a:solidFill>
                <a:latin typeface="Calibri"/>
              </a:defRPr>
            </a:pPr>
            <a:r>
              <a:t>The agent builds an orchestrator</a:t>
            </a:r>
            <a:br/>
            <a:r>
              <a:t>that launches 3 specialist agents</a:t>
            </a:r>
            <a:br/>
            <a:r>
              <a:t>IN PARALLEL, then synthesizes.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303520" cy="4114800"/>
          </a:xfrm>
          <a:prstGeom prst="roundRect">
            <a:avLst/>
          </a:prstGeom>
          <a:solidFill>
            <a:srgbClr val="14143C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FF88"/>
                </a:solidFill>
                <a:latin typeface="Calibri"/>
              </a:defRPr>
            </a:pPr>
            <a:r>
              <a:t>What the Agent Builds: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03120"/>
            <a:ext cx="4937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400">
                <a:solidFill>
                  <a:srgbClr val="DCDCDC"/>
                </a:solidFill>
                <a:latin typeface="Calibri"/>
              </a:defRPr>
            </a:pPr>
            <a:r>
              <a:t>my-agents/lab3b_parallel_agents.py</a:t>
            </a:r>
          </a:p>
          <a:p>
            <a:pPr>
              <a:spcBef>
                <a:spcPts val="800"/>
              </a:spcBef>
              <a:defRPr sz="1400">
                <a:solidFill>
                  <a:srgbClr val="DCDCDC"/>
                </a:solidFill>
                <a:latin typeface="Calibri"/>
              </a:defRPr>
            </a:pPr>
            <a:r>
              <a:t>3 specialists: tech, market, pros/cons</a:t>
            </a:r>
          </a:p>
          <a:p>
            <a:pPr>
              <a:spcBef>
                <a:spcPts val="800"/>
              </a:spcBef>
              <a:defRPr sz="1400">
                <a:solidFill>
                  <a:srgbClr val="DCDCDC"/>
                </a:solidFill>
                <a:latin typeface="Calibri"/>
              </a:defRPr>
            </a:pPr>
            <a:r>
              <a:t>All 3 run simultaneously via parallel task() calls</a:t>
            </a:r>
          </a:p>
          <a:p>
            <a:pPr>
              <a:spcBef>
                <a:spcPts val="800"/>
              </a:spcBef>
              <a:defRPr sz="1400">
                <a:solidFill>
                  <a:srgbClr val="DCDCDC"/>
                </a:solidFill>
                <a:latin typeface="Calibri"/>
              </a:defRPr>
            </a:pPr>
            <a:r>
              <a:t>Orchestrator synthesizes into unified report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7A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0" y="274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46464"/>
                </a:solidFill>
                <a:latin typeface="Calibri"/>
              </a:defRPr>
            </a:pPr>
            <a:r>
              <a:t>Module 3: Multi-Agent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AA00"/>
                </a:solidFill>
                <a:latin typeface="Calibri"/>
              </a:defRPr>
            </a:pPr>
            <a:r>
              <a:t>Lab 3b — How to Run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515600" cy="731520"/>
          </a:xfrm>
          <a:prstGeom prst="roundRect">
            <a:avLst/>
          </a:prstGeom>
          <a:solidFill>
            <a:srgbClr val="1E1E1E"/>
          </a:solidFill>
          <a:ln w="19050">
            <a:solidFill>
              <a:srgbClr val="FF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FF88"/>
                </a:solidFill>
                <a:latin typeface="Calibri"/>
              </a:defRPr>
            </a:pPr>
            <a:r>
              <a:t>$ python my-agents/lab3b_parallel_agents.py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377440"/>
            <a:ext cx="10515600" cy="3840480"/>
          </a:xfrm>
          <a:prstGeom prst="roundRect">
            <a:avLst/>
          </a:prstGeom>
          <a:solidFill>
            <a:srgbClr val="0F0F23"/>
          </a:solidFill>
          <a:ln w="190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468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  <a:latin typeface="Calibri"/>
              </a:defRPr>
            </a:pPr>
            <a:r>
              <a:t>Expected Trace Output: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2608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CDCDC"/>
                </a:solidFill>
                <a:latin typeface="Calibri"/>
              </a:defRPr>
            </a:pPr>
            <a:r>
              <a:t>  [DELEGATE] task("Technical analysis", subagent_type="tech_researcher")</a:t>
            </a:r>
            <a:br/>
            <a:r>
              <a:t>  [DELEGATE] task("Market analysis", subagent_type="market_researcher")</a:t>
            </a:r>
            <a:br/>
            <a:r>
              <a:t>  [DELEGATE] task("Pros/cons", subagent_type="pros_cons_analyst")</a:t>
            </a:r>
            <a:br/>
            <a:r>
              <a:t>  [SUB-AGENT DONE] Technical findings: Rust offers...</a:t>
            </a:r>
            <a:br/>
            <a:r>
              <a:t>  [SUB-AGENT DONE] Market data shows Go has...</a:t>
            </a:r>
            <a:br/>
            <a:r>
              <a:t>  [SUB-AGENT DONE] Strengths/weaknesses: Rust excels...</a:t>
            </a:r>
            <a:br/>
            <a:br/>
            <a:r>
              <a:t>AGENT RESPONSE: Synthesized report combining all 3 perspectives...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7A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0" y="274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46464"/>
                </a:solidFill>
                <a:latin typeface="Calibri"/>
              </a:defRPr>
            </a:pPr>
            <a:r>
              <a:t>Module 3: Multi-Agent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FF88"/>
                </a:solidFill>
                <a:latin typeface="Calibri"/>
              </a:defRPr>
            </a:pPr>
            <a:r>
              <a:t>Lab 3b — 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554480"/>
            <a:ext cx="9601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200">
                <a:solidFill>
                  <a:srgbClr val="DCDCDC"/>
                </a:solidFill>
                <a:latin typeface="Calibri"/>
              </a:defRPr>
            </a:pPr>
            <a:r>
              <a:t>Multiple task() calls in ONE response = parallel execution</a:t>
            </a:r>
          </a:p>
          <a:p>
            <a:pPr>
              <a:spcBef>
                <a:spcPts val="800"/>
              </a:spcBef>
              <a:defRPr sz="2200">
                <a:solidFill>
                  <a:srgbClr val="DCDCDC"/>
                </a:solidFill>
                <a:latin typeface="Calibri"/>
              </a:defRPr>
            </a:pPr>
            <a:r>
              <a:t>3 specialists go deeper than 1 generalist (focused contexts)</a:t>
            </a:r>
          </a:p>
          <a:p>
            <a:pPr>
              <a:spcBef>
                <a:spcPts val="800"/>
              </a:spcBef>
              <a:defRPr sz="2200">
                <a:solidFill>
                  <a:srgbClr val="DCDCDC"/>
                </a:solidFill>
                <a:latin typeface="Calibri"/>
              </a:defRPr>
            </a:pPr>
            <a:r>
              <a:t>Orchestrator synthesizes multiple perspectives into unified report</a:t>
            </a:r>
          </a:p>
          <a:p>
            <a:pPr>
              <a:spcBef>
                <a:spcPts val="800"/>
              </a:spcBef>
              <a:defRPr sz="2200">
                <a:solidFill>
                  <a:srgbClr val="DCDCDC"/>
                </a:solidFill>
                <a:latin typeface="Calibri"/>
              </a:defRPr>
            </a:pPr>
            <a:r>
              <a:t>Each sub-agent writes to /research/ — orchestrator reads and combines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7A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0" y="274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46464"/>
                </a:solidFill>
                <a:latin typeface="Calibri"/>
              </a:defRPr>
            </a:pPr>
            <a:r>
              <a:t>Module 3: Multi-Agent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7A5FFF"/>
                </a:solidFill>
                <a:latin typeface="Calibri"/>
              </a:defRPr>
            </a:pPr>
            <a:r>
              <a:t>Lab 3c: Filesystem Communication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029200" cy="4114800"/>
          </a:xfrm>
          <a:prstGeom prst="roundRect">
            <a:avLst/>
          </a:prstGeom>
          <a:solidFill>
            <a:srgbClr val="14143C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Calibri"/>
              </a:defRPr>
            </a:pPr>
            <a:r>
              <a:t>Paste This Prompt: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CDCDC"/>
                </a:solidFill>
                <a:latin typeface="Calibri"/>
              </a:defRPr>
            </a:pPr>
            <a:r>
              <a:t>The agent builds a sequential pipeline</a:t>
            </a:r>
            <a:br/>
            <a:r>
              <a:t>where agents communicate ONLY through</a:t>
            </a:r>
            <a:br/>
            <a:r>
              <a:t>files — the filesystem is the message bus.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303520" cy="4114800"/>
          </a:xfrm>
          <a:prstGeom prst="roundRect">
            <a:avLst/>
          </a:prstGeom>
          <a:solidFill>
            <a:srgbClr val="14143C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FF88"/>
                </a:solidFill>
                <a:latin typeface="Calibri"/>
              </a:defRPr>
            </a:pPr>
            <a:r>
              <a:t>What the Agent Builds: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03120"/>
            <a:ext cx="4937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400">
                <a:solidFill>
                  <a:srgbClr val="DCDCDC"/>
                </a:solidFill>
                <a:latin typeface="Calibri"/>
              </a:defRPr>
            </a:pPr>
            <a:r>
              <a:t>my-agents/lab3c_file_sharing.py</a:t>
            </a:r>
          </a:p>
          <a:p>
            <a:pPr>
              <a:spcBef>
                <a:spcPts val="800"/>
              </a:spcBef>
              <a:defRPr sz="1400">
                <a:solidFill>
                  <a:srgbClr val="DCDCDC"/>
                </a:solidFill>
                <a:latin typeface="Calibri"/>
              </a:defRPr>
            </a:pPr>
            <a:r>
              <a:t>data_collector writes /data/*.md</a:t>
            </a:r>
          </a:p>
          <a:p>
            <a:pPr>
              <a:spcBef>
                <a:spcPts val="800"/>
              </a:spcBef>
              <a:defRPr sz="1400">
                <a:solidFill>
                  <a:srgbClr val="DCDCDC"/>
                </a:solidFill>
                <a:latin typeface="Calibri"/>
              </a:defRPr>
            </a:pPr>
            <a:r>
              <a:t>analyst reads /data/, calculates, writes /analysis/*.md</a:t>
            </a:r>
          </a:p>
          <a:p>
            <a:pPr>
              <a:spcBef>
                <a:spcPts val="800"/>
              </a:spcBef>
              <a:defRPr sz="1400">
                <a:solidFill>
                  <a:srgbClr val="DCDCDC"/>
                </a:solidFill>
                <a:latin typeface="Calibri"/>
              </a:defRPr>
            </a:pPr>
            <a:r>
              <a:t>Orchestrator reads /analysis/ and presents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7A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0" y="274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46464"/>
                </a:solidFill>
                <a:latin typeface="Calibri"/>
              </a:defRPr>
            </a:pPr>
            <a:r>
              <a:t>Module 3: Multi-Agent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AA00"/>
                </a:solidFill>
                <a:latin typeface="Calibri"/>
              </a:defRPr>
            </a:pPr>
            <a:r>
              <a:t>Lab 3c — How to Run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515600" cy="731520"/>
          </a:xfrm>
          <a:prstGeom prst="roundRect">
            <a:avLst/>
          </a:prstGeom>
          <a:solidFill>
            <a:srgbClr val="1E1E1E"/>
          </a:solidFill>
          <a:ln w="19050">
            <a:solidFill>
              <a:srgbClr val="FF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FF88"/>
                </a:solidFill>
                <a:latin typeface="Calibri"/>
              </a:defRPr>
            </a:pPr>
            <a:r>
              <a:t>$ python my-agents/lab3c_file_sharing.py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377440"/>
            <a:ext cx="10515600" cy="3840480"/>
          </a:xfrm>
          <a:prstGeom prst="roundRect">
            <a:avLst/>
          </a:prstGeom>
          <a:solidFill>
            <a:srgbClr val="0F0F23"/>
          </a:solidFill>
          <a:ln w="190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468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  <a:latin typeface="Calibri"/>
              </a:defRPr>
            </a:pPr>
            <a:r>
              <a:t>Expected Trace Output: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2608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CDCDC"/>
                </a:solidFill>
                <a:latin typeface="Calibri"/>
              </a:defRPr>
            </a:pPr>
            <a:r>
              <a:t>  [DELEGATE] task("Collect pricing data", subagent_type="data_collector")</a:t>
            </a:r>
            <a:br/>
            <a:r>
              <a:t>  [SUB-AGENT DONE] Created /data/cloud_pricing.md</a:t>
            </a:r>
            <a:br/>
            <a:r>
              <a:t>  [DELEGATE] task("Analyze data", subagent_type="analyst")</a:t>
            </a:r>
            <a:br/>
            <a:r>
              <a:t>  [CALC] calculate(expression="67+34+25")</a:t>
            </a:r>
            <a:br/>
            <a:r>
              <a:t>  [RESULT] 126</a:t>
            </a:r>
            <a:br/>
            <a:r>
              <a:t>  [SUB-AGENT DONE] Analysis written to /analysis/results.md</a:t>
            </a:r>
            <a:br/>
            <a:br/>
            <a:r>
              <a:t>AGENT RESPONSE: Based on the analysis, AWS is cheapest at...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7A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0" y="274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46464"/>
                </a:solidFill>
                <a:latin typeface="Calibri"/>
              </a:defRPr>
            </a:pPr>
            <a:r>
              <a:t>Module 3: Multi-Agent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FF88"/>
                </a:solidFill>
                <a:latin typeface="Calibri"/>
              </a:defRPr>
            </a:pPr>
            <a:r>
              <a:t>Lab 3c — 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554480"/>
            <a:ext cx="9601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200">
                <a:solidFill>
                  <a:srgbClr val="DCDCDC"/>
                </a:solidFill>
                <a:latin typeface="Calibri"/>
              </a:defRPr>
            </a:pPr>
            <a:r>
              <a:t>The filesystem IS the message bus — agents communicate through files only</a:t>
            </a:r>
          </a:p>
          <a:p>
            <a:pPr>
              <a:spcBef>
                <a:spcPts val="800"/>
              </a:spcBef>
              <a:defRPr sz="2200">
                <a:solidFill>
                  <a:srgbClr val="DCDCDC"/>
                </a:solidFill>
                <a:latin typeface="Calibri"/>
              </a:defRPr>
            </a:pPr>
            <a:r>
              <a:t>Sequential pipeline: each agent depends on the previous agent's output</a:t>
            </a:r>
          </a:p>
          <a:p>
            <a:pPr>
              <a:spcBef>
                <a:spcPts val="800"/>
              </a:spcBef>
              <a:defRPr sz="2200">
                <a:solidFill>
                  <a:srgbClr val="DCDCDC"/>
                </a:solidFill>
                <a:latin typeface="Calibri"/>
              </a:defRPr>
            </a:pPr>
            <a:r>
              <a:t>Agents don't know about each other — only about file paths</a:t>
            </a:r>
          </a:p>
          <a:p>
            <a:pPr>
              <a:spcBef>
                <a:spcPts val="800"/>
              </a:spcBef>
              <a:defRPr sz="2200">
                <a:solidFill>
                  <a:srgbClr val="DCDCDC"/>
                </a:solidFill>
                <a:latin typeface="Calibri"/>
              </a:defRPr>
            </a:pPr>
            <a:r>
              <a:t>Data persists even after context summarization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7A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0" y="274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46464"/>
                </a:solidFill>
                <a:latin typeface="Calibri"/>
              </a:defRPr>
            </a:pPr>
            <a:r>
              <a:t>Module 3: Multi-Agent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7A5FFF"/>
                </a:solidFill>
                <a:latin typeface="Calibri"/>
              </a:defRPr>
            </a:pPr>
            <a:r>
              <a:t>Module 3 Summary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515600" cy="640080"/>
          </a:xfrm>
          <a:prstGeom prst="roundRect">
            <a:avLst/>
          </a:prstGeom>
          <a:solidFill>
            <a:srgbClr val="14143C"/>
          </a:solidFill>
          <a:ln w="19050">
            <a:solidFill>
              <a:srgbClr val="7A5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Calibri"/>
              </a:defRPr>
            </a:pPr>
            <a:r>
              <a:t>Lab 3a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146304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CDCDC"/>
                </a:solidFill>
                <a:latin typeface="Calibri"/>
              </a:defRPr>
            </a:pPr>
            <a:r>
              <a:t>Delegation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46304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  <a:latin typeface="Calibri"/>
              </a:defRPr>
            </a:pPr>
            <a:r>
              <a:t>tools=[] forces task() delegation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40280"/>
            <a:ext cx="10515600" cy="640080"/>
          </a:xfrm>
          <a:prstGeom prst="roundRect">
            <a:avLst/>
          </a:prstGeom>
          <a:solidFill>
            <a:srgbClr val="14143C"/>
          </a:solidFill>
          <a:ln w="19050">
            <a:solidFill>
              <a:srgbClr val="7A5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2402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Calibri"/>
              </a:defRPr>
            </a:pPr>
            <a:r>
              <a:t>Lab 3b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24028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CDCDC"/>
                </a:solidFill>
                <a:latin typeface="Calibri"/>
              </a:defRPr>
            </a:pPr>
            <a:r>
              <a:t>Parallel Execution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24028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  <a:latin typeface="Calibri"/>
              </a:defRPr>
            </a:pPr>
            <a:r>
              <a:t>Multiple task() calls = parallel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017520"/>
            <a:ext cx="10515600" cy="640080"/>
          </a:xfrm>
          <a:prstGeom prst="roundRect">
            <a:avLst/>
          </a:prstGeom>
          <a:solidFill>
            <a:srgbClr val="14143C"/>
          </a:solidFill>
          <a:ln w="19050">
            <a:solidFill>
              <a:srgbClr val="7A5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01752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Calibri"/>
              </a:defRPr>
            </a:pPr>
            <a:r>
              <a:t>Lab 3c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301752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CDCDC"/>
                </a:solidFill>
                <a:latin typeface="Calibri"/>
              </a:defRPr>
            </a:pPr>
            <a:r>
              <a:t>File Pipeline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0175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  <a:latin typeface="Calibri"/>
              </a:defRPr>
            </a:pPr>
            <a:r>
              <a:t>Filesystem = async message bus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