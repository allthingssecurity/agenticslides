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4: Capstones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Module 4: Capstone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AAAAA"/>
                </a:solidFill>
                <a:latin typeface="Calibri"/>
              </a:defRPr>
            </a:pPr>
            <a:r>
              <a:t>Production-Grade Multi-Agent Apps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4: Capstones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What You'll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DCDCDC"/>
                </a:solidFill>
                <a:latin typeface="Calibri"/>
              </a:defRPr>
            </a:pPr>
            <a:r>
              <a:t>Multi-phase orchestration (parallel + sequential combined)</a:t>
            </a:r>
          </a:p>
          <a:p>
            <a:pPr>
              <a:spcBef>
                <a:spcPts val="800"/>
              </a:spcBef>
              <a:defRPr sz="2000">
                <a:solidFill>
                  <a:srgbClr val="DCDCDC"/>
                </a:solidFill>
                <a:latin typeface="Calibri"/>
              </a:defRPr>
            </a:pPr>
            <a:r>
              <a:t>Simulated data tools for educational environments</a:t>
            </a:r>
          </a:p>
          <a:p>
            <a:pPr>
              <a:spcBef>
                <a:spcPts val="800"/>
              </a:spcBef>
              <a:defRPr sz="2000">
                <a:solidFill>
                  <a:srgbClr val="DCDCDC"/>
                </a:solidFill>
                <a:latin typeface="Calibri"/>
              </a:defRPr>
            </a:pPr>
            <a:r>
              <a:t>SQLite integration for text-to-SQL agents</a:t>
            </a:r>
          </a:p>
          <a:p>
            <a:pPr>
              <a:spcBef>
                <a:spcPts val="800"/>
              </a:spcBef>
              <a:defRPr sz="2000">
                <a:solidFill>
                  <a:srgbClr val="DCDCDC"/>
                </a:solidFill>
                <a:latin typeface="Calibri"/>
              </a:defRPr>
            </a:pPr>
            <a:r>
              <a:t>Content pipeline with quality control (research -&gt; write -&gt; edit)</a:t>
            </a:r>
          </a:p>
          <a:p>
            <a:pPr>
              <a:spcBef>
                <a:spcPts val="800"/>
              </a:spcBef>
              <a:defRPr sz="2000">
                <a:solidFill>
                  <a:srgbClr val="DCDCDC"/>
                </a:solidFill>
                <a:latin typeface="Calibri"/>
              </a:defRPr>
            </a:pPr>
            <a:r>
              <a:t>Cost optimization: different models for different agent roles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4: Capstones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A5FFF"/>
                </a:solidFill>
                <a:latin typeface="Calibri"/>
              </a:defRPr>
            </a:pPr>
            <a:r>
              <a:t>Lab 4: Financial Deep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114800"/>
          </a:xfrm>
          <a:prstGeom prst="roundRect">
            <a:avLst/>
          </a:prstGeom>
          <a:solidFill>
            <a:srgbClr val="14143C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Paste This Prompt: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  <a:latin typeface="Calibri"/>
              </a:defRPr>
            </a:pPr>
            <a:r>
              <a:t>The agent builds a 4-agent financial</a:t>
            </a:r>
            <a:br/>
            <a:r>
              <a:t>analysis system with phased execution:</a:t>
            </a:r>
            <a:br/>
            <a:r>
              <a:t>parallel data collection, then sequential</a:t>
            </a:r>
            <a:br/>
            <a:r>
              <a:t>analysis and report writing.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03520" cy="4114800"/>
          </a:xfrm>
          <a:prstGeom prst="roundRect">
            <a:avLst/>
          </a:prstGeom>
          <a:solidFill>
            <a:srgbClr val="14143C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Calibri"/>
              </a:defRPr>
            </a:pPr>
            <a:r>
              <a:t>What the Agent Builds: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my-agents/lab4_financial_research.py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4 sub-agents: market_data, news, analyst, writer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Phase 1 (parallel): data + news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Phases 2-3 (sequential): analysis -&gt; report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Output: /report/investment_report.md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4: Capstones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AA00"/>
                </a:solidFill>
                <a:latin typeface="Calibri"/>
              </a:defRPr>
            </a:pPr>
            <a:r>
              <a:t>Lab 4 — How to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73152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88"/>
                </a:solidFill>
                <a:latin typeface="Calibri"/>
              </a:defRPr>
            </a:pPr>
            <a:r>
              <a:t>$ python my-agents/lab4_financial_research.py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515600" cy="3840480"/>
          </a:xfrm>
          <a:prstGeom prst="roundRect">
            <a:avLst/>
          </a:prstGeom>
          <a:solidFill>
            <a:srgbClr val="0F0F23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Expected Trace Output: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  <a:latin typeface="Calibri"/>
              </a:defRPr>
            </a:pPr>
            <a:r>
              <a:t>  [DELEGATE] task("Fetch NVDA data", subagent_type="market_data_agent")</a:t>
            </a:r>
            <a:br/>
            <a:r>
              <a:t>  [DELEGATE] task("Research NVDA news", subagent_type="news_analyst")</a:t>
            </a:r>
            <a:br/>
            <a:r>
              <a:t>  [SUB-AGENT DONE] Market data collected for NVDA</a:t>
            </a:r>
            <a:br/>
            <a:r>
              <a:t>  [SUB-AGENT DONE] News analysis: Bullish sentiment...</a:t>
            </a:r>
            <a:br/>
            <a:r>
              <a:t>  [DELEGATE] task("Quantitative analysis", subagent_type="finance_analyst")</a:t>
            </a:r>
            <a:br/>
            <a:r>
              <a:t>  [SUB-AGENT DONE] Intrinsic value: $xxx, Risk: Medium</a:t>
            </a:r>
            <a:br/>
            <a:r>
              <a:t>  [DELEGATE] task("Write report", subagent_type="report_writer")</a:t>
            </a:r>
            <a:br/>
            <a:r>
              <a:t>  [SUB-AGENT DONE] Investment report written</a:t>
            </a:r>
            <a:br/>
            <a:br/>
            <a:r>
              <a:t>AGENT RESPONSE: Investment Analysis: NVIDIA (NVDA)...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4: Capstones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88"/>
                </a:solidFill>
                <a:latin typeface="Calibri"/>
              </a:defRPr>
            </a:pPr>
            <a:r>
              <a:t>Lab 4 —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Multi-phase = parallel (Phase 1) + sequential (Phases 2-3) in one system</a:t>
            </a:r>
          </a:p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4 specialist agents with different models optimize for cost vs. capability</a:t>
            </a:r>
          </a:p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File-based communication scales: /data/market/, /data/news/, /data/analysis/, /report/</a:t>
            </a:r>
          </a:p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Structured report template ensures professional, consistent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4: Capstones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A5FFF"/>
                </a:solidFill>
                <a:latin typeface="Calibri"/>
              </a:defRPr>
            </a:pPr>
            <a:r>
              <a:t>Lab 5: Text-to-SQL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114800"/>
          </a:xfrm>
          <a:prstGeom prst="roundRect">
            <a:avLst/>
          </a:prstGeom>
          <a:solidFill>
            <a:srgbClr val="14143C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Paste This Prompt: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  <a:latin typeface="Calibri"/>
              </a:defRPr>
            </a:pPr>
            <a:r>
              <a:t>The agent builds a conversational SQL</a:t>
            </a:r>
            <a:br/>
            <a:r>
              <a:t>agent with a sample e-commerce database.</a:t>
            </a:r>
            <a:br/>
            <a:r>
              <a:t>Natural language in -&gt; SQL + results +</a:t>
            </a:r>
            <a:br/>
            <a:r>
              <a:t>explanations 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03520" cy="4114800"/>
          </a:xfrm>
          <a:prstGeom prst="roundRect">
            <a:avLst/>
          </a:prstGeom>
          <a:solidFill>
            <a:srgbClr val="14143C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Calibri"/>
              </a:defRPr>
            </a:pPr>
            <a:r>
              <a:t>What the Agent Builds: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my-agents/lab5_text_to_sql.py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SQLite database: products, customers, orders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Tools: explore_schema(), run_sql_query()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Safety: read-only, blocks write operations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Persistent thread: agent remembers schema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4: Capstones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AA00"/>
                </a:solidFill>
                <a:latin typeface="Calibri"/>
              </a:defRPr>
            </a:pPr>
            <a:r>
              <a:t>Lab 5 — How to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73152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88"/>
                </a:solidFill>
                <a:latin typeface="Calibri"/>
              </a:defRPr>
            </a:pPr>
            <a:r>
              <a:t>$ python my-agents/lab5_text_to_sql.py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515600" cy="3840480"/>
          </a:xfrm>
          <a:prstGeom prst="roundRect">
            <a:avLst/>
          </a:prstGeom>
          <a:solidFill>
            <a:srgbClr val="0F0F23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Expected Trace Output: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  <a:latin typeface="Calibri"/>
              </a:defRPr>
            </a:pPr>
            <a:r>
              <a:t>YOU: What are our top 5 products by total revenue?</a:t>
            </a:r>
            <a:br/>
            <a:br/>
            <a:r>
              <a:t>  [SCHEMA] explore_schema()</a:t>
            </a:r>
            <a:br/>
            <a:r>
              <a:t>  [RESULT] DATABASE SCHEMA: products (15 rows)...</a:t>
            </a:r>
            <a:br/>
            <a:r>
              <a:t>  [SQL] run_sql_query(query="SELECT p.name, SUM(p.price * o.quantity)...")</a:t>
            </a:r>
            <a:br/>
            <a:r>
              <a:t>  [RESULT] Mechanical Keyboard | $42,356.74 ...</a:t>
            </a:r>
            <a:br/>
            <a:br/>
            <a:r>
              <a:t>AGENT RESPONSE:</a:t>
            </a:r>
            <a:br/>
            <a:r>
              <a:t>The top 5 products by revenue are...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4: Capstones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88"/>
                </a:solidFill>
                <a:latin typeface="Calibri"/>
              </a:defRPr>
            </a:pPr>
            <a:r>
              <a:t>Lab 5 —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Schema-first pattern: agent explores database before writing SQL</a:t>
            </a:r>
          </a:p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Read-only safety: blocks DROP, DELETE, INSERT, UPDATE, ALTER, CREATE</a:t>
            </a:r>
          </a:p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Persistent thread_id lets the agent remember schema across queries</a:t>
            </a:r>
          </a:p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Natural language -&gt; SQL -&gt; Results -&gt; Business explanation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4: Capstones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A5FFF"/>
                </a:solidFill>
                <a:latin typeface="Calibri"/>
              </a:defRPr>
            </a:pPr>
            <a:r>
              <a:t>Lab 6: Content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114800"/>
          </a:xfrm>
          <a:prstGeom prst="roundRect">
            <a:avLst/>
          </a:prstGeom>
          <a:solidFill>
            <a:srgbClr val="14143C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Paste This Prompt: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  <a:latin typeface="Calibri"/>
              </a:defRPr>
            </a:pPr>
            <a:r>
              <a:t>The agent builds a 3-stage content</a:t>
            </a:r>
            <a:br/>
            <a:r>
              <a:t>creation pipeline with quality control:</a:t>
            </a:r>
            <a:br/>
            <a:r>
              <a:t>Researcher -&gt; Writer -&gt; Editor.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03520" cy="4114800"/>
          </a:xfrm>
          <a:prstGeom prst="roundRect">
            <a:avLst/>
          </a:prstGeom>
          <a:solidFill>
            <a:srgbClr val="14143C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Calibri"/>
              </a:defRPr>
            </a:pPr>
            <a:r>
              <a:t>What the Agent Builds: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my-agents/lab6_content_pipeline.py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3 sub-agents: researcher, writer, editor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Sequential: each stage reads previous output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Quality control: editor fact-checks against research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Files: /research/ -&gt; /drafts/ -&gt; /review/ + /final/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4: Capstones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AA00"/>
                </a:solidFill>
                <a:latin typeface="Calibri"/>
              </a:defRPr>
            </a:pPr>
            <a:r>
              <a:t>Lab 6 — How to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73152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88"/>
                </a:solidFill>
                <a:latin typeface="Calibri"/>
              </a:defRPr>
            </a:pPr>
            <a:r>
              <a:t>$ python my-agents/lab6_content_pipeline.py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515600" cy="3840480"/>
          </a:xfrm>
          <a:prstGeom prst="roundRect">
            <a:avLst/>
          </a:prstGeom>
          <a:solidFill>
            <a:srgbClr val="0F0F23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Expected Trace Output: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  <a:latin typeface="Calibri"/>
              </a:defRPr>
            </a:pPr>
            <a:r>
              <a:t>  [DELEGATE] task("Research AI agents", subagent_type="topic_researcher")</a:t>
            </a:r>
            <a:br/>
            <a:r>
              <a:t>  [SEARCH] web_search("AI agents software development 2025")</a:t>
            </a:r>
            <a:br/>
            <a:r>
              <a:t>  [RESULT] AI agents are transforming...</a:t>
            </a:r>
            <a:br/>
            <a:r>
              <a:t>  [SUB-AGENT DONE] Research notes written to /research/</a:t>
            </a:r>
            <a:br/>
            <a:r>
              <a:t>  [DELEGATE] task("Write article", subagent_type="content_writer")</a:t>
            </a:r>
            <a:br/>
            <a:r>
              <a:t>  [SUB-AGENT DONE] Draft written to /drafts/article.md</a:t>
            </a:r>
            <a:br/>
            <a:r>
              <a:t>  [DELEGATE] task("Edit and review", subagent_type="editor_reviewer")</a:t>
            </a:r>
            <a:br/>
            <a:r>
              <a:t>  [SUB-AGENT DONE] Final article at /final/article.md</a:t>
            </a:r>
            <a:br/>
            <a:br/>
            <a:r>
              <a:t>AGENT RESPONSE: Here is the final article + editor's notes...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4: Capstones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88"/>
                </a:solidFill>
                <a:latin typeface="Calibri"/>
              </a:defRPr>
            </a:pPr>
            <a:r>
              <a:t>Lab 6 —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Sequential pipeline ensures each stage has the data it needs</a:t>
            </a:r>
          </a:p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Quality control: editor reviews draft against original research notes</a:t>
            </a:r>
          </a:p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File-based handoff: /research/ -&gt; /drafts/ -&gt; /review/ + /final/</a:t>
            </a:r>
          </a:p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Separation of concerns: research != writing != editing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4: Capstones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A5FFF"/>
                </a:solidFill>
                <a:latin typeface="Calibri"/>
              </a:defRPr>
            </a:pPr>
            <a:r>
              <a:t>Module 4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515600" cy="640080"/>
          </a:xfrm>
          <a:prstGeom prst="roundRect">
            <a:avLst/>
          </a:prstGeom>
          <a:solidFill>
            <a:srgbClr val="14143C"/>
          </a:solidFill>
          <a:ln w="19050">
            <a:solidFill>
              <a:srgbClr val="7A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Lab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4630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DCDC"/>
                </a:solidFill>
                <a:latin typeface="Calibri"/>
              </a:defRPr>
            </a:pPr>
            <a:r>
              <a:t>Financial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4 agents, parallel + sequential phases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10515600" cy="640080"/>
          </a:xfrm>
          <a:prstGeom prst="roundRect">
            <a:avLst/>
          </a:prstGeom>
          <a:solidFill>
            <a:srgbClr val="14143C"/>
          </a:solidFill>
          <a:ln w="19050">
            <a:solidFill>
              <a:srgbClr val="7A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Lab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402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DCDC"/>
                </a:solidFill>
                <a:latin typeface="Calibri"/>
              </a:defRPr>
            </a:pPr>
            <a:r>
              <a:t>Text-to-SQL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402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Schema exploration + safe SQL execution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10515600" cy="640080"/>
          </a:xfrm>
          <a:prstGeom prst="roundRect">
            <a:avLst/>
          </a:prstGeom>
          <a:solidFill>
            <a:srgbClr val="14143C"/>
          </a:solidFill>
          <a:ln w="19050">
            <a:solidFill>
              <a:srgbClr val="7A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Lab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0175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DCDC"/>
                </a:solidFill>
                <a:latin typeface="Calibri"/>
              </a:defRPr>
            </a:pPr>
            <a:r>
              <a:t>Content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17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3-stage sequential + quality control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4: Capstones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Course Complete!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AAAAA"/>
                </a:solidFill>
                <a:latin typeface="Calibri"/>
              </a:defRPr>
            </a:pPr>
            <a:r>
              <a:t>9 labs, 4 modules, 5 core patterns mastered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